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9" r:id="rId14"/>
    <p:sldId id="268" r:id="rId15"/>
    <p:sldId id="271" r:id="rId16"/>
    <p:sldId id="270"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k Abdullah Azam" userId="966180ca0b6e42d1" providerId="LiveId" clId="{1B88BCFC-6DE9-4B33-804E-DC9F7F9BE33B}"/>
    <pc:docChg chg="modSld">
      <pc:chgData name="Shaik Abdullah Azam" userId="966180ca0b6e42d1" providerId="LiveId" clId="{1B88BCFC-6DE9-4B33-804E-DC9F7F9BE33B}" dt="2025-11-26T13:13:33.175" v="3" actId="20577"/>
      <pc:docMkLst>
        <pc:docMk/>
      </pc:docMkLst>
      <pc:sldChg chg="modSp mod">
        <pc:chgData name="Shaik Abdullah Azam" userId="966180ca0b6e42d1" providerId="LiveId" clId="{1B88BCFC-6DE9-4B33-804E-DC9F7F9BE33B}" dt="2025-11-26T13:13:33.175" v="3" actId="20577"/>
        <pc:sldMkLst>
          <pc:docMk/>
          <pc:sldMk cId="970345831" sldId="276"/>
        </pc:sldMkLst>
        <pc:spChg chg="mod">
          <ac:chgData name="Shaik Abdullah Azam" userId="966180ca0b6e42d1" providerId="LiveId" clId="{1B88BCFC-6DE9-4B33-804E-DC9F7F9BE33B}" dt="2025-11-26T13:13:33.175" v="3" actId="20577"/>
          <ac:spMkLst>
            <pc:docMk/>
            <pc:sldMk cId="970345831" sldId="276"/>
            <ac:spMk id="2" creationId="{542E2C4F-A836-A863-A49C-FAEFE459486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210944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1148861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3625985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D2C81D-FB4A-465B-8AC0-2510818404AC}"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3161176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D2C81D-FB4A-465B-8AC0-2510818404AC}" type="datetimeFigureOut">
              <a:rPr lang="en-IN" smtClean="0"/>
              <a:t>26-11-2025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1230344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D2C81D-FB4A-465B-8AC0-2510818404AC}" type="datetimeFigureOut">
              <a:rPr lang="en-IN" smtClean="0"/>
              <a:t>26-11-2025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889110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D2C81D-FB4A-465B-8AC0-2510818404AC}" type="datetimeFigureOut">
              <a:rPr lang="en-IN" smtClean="0"/>
              <a:t>26-11-2025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637086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D2C81D-FB4A-465B-8AC0-2510818404AC}"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2690384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D2C81D-FB4A-465B-8AC0-2510818404AC}"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2063412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D2C81D-FB4A-465B-8AC0-2510818404AC}"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2931991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22959087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13351418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204331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3628039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22640652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1644384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D2C81D-FB4A-465B-8AC0-2510818404AC}"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2B2318-27D2-4B95-AC3A-C322E0B20CD1}" type="slidenum">
              <a:rPr lang="en-IN" smtClean="0"/>
              <a:t>‹#›</a:t>
            </a:fld>
            <a:endParaRPr lang="en-IN"/>
          </a:p>
        </p:txBody>
      </p:sp>
    </p:spTree>
    <p:extLst>
      <p:ext uri="{BB962C8B-B14F-4D97-AF65-F5344CB8AC3E}">
        <p14:creationId xmlns:p14="http://schemas.microsoft.com/office/powerpoint/2010/main" val="2384880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1D2C81D-FB4A-465B-8AC0-2510818404AC}" type="datetimeFigureOut">
              <a:rPr lang="en-IN" smtClean="0"/>
              <a:t>26-11-2025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C2B2318-27D2-4B95-AC3A-C322E0B20CD1}" type="slidenum">
              <a:rPr lang="en-IN" smtClean="0"/>
              <a:t>‹#›</a:t>
            </a:fld>
            <a:endParaRPr lang="en-IN"/>
          </a:p>
        </p:txBody>
      </p:sp>
    </p:spTree>
    <p:extLst>
      <p:ext uri="{BB962C8B-B14F-4D97-AF65-F5344CB8AC3E}">
        <p14:creationId xmlns:p14="http://schemas.microsoft.com/office/powerpoint/2010/main" val="225411065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25B8E-889E-1322-1881-E05CD91E95C8}"/>
              </a:ext>
            </a:extLst>
          </p:cNvPr>
          <p:cNvSpPr>
            <a:spLocks noGrp="1"/>
          </p:cNvSpPr>
          <p:nvPr>
            <p:ph type="ctrTitle"/>
          </p:nvPr>
        </p:nvSpPr>
        <p:spPr/>
        <p:txBody>
          <a:bodyPr>
            <a:normAutofit fontScale="90000"/>
          </a:bodyPr>
          <a:lstStyle/>
          <a:p>
            <a:r>
              <a:rPr lang="en-IN" dirty="0"/>
              <a:t>Employee Attrition Analysis Report</a:t>
            </a:r>
            <a:br>
              <a:rPr lang="en-IN" dirty="0"/>
            </a:br>
            <a:endParaRPr lang="en-IN" dirty="0"/>
          </a:p>
        </p:txBody>
      </p:sp>
      <p:sp>
        <p:nvSpPr>
          <p:cNvPr id="3" name="Subtitle 2">
            <a:extLst>
              <a:ext uri="{FF2B5EF4-FFF2-40B4-BE49-F238E27FC236}">
                <a16:creationId xmlns:a16="http://schemas.microsoft.com/office/drawing/2014/main" id="{6D240FF1-6B1A-E514-A79F-A2CB95D81655}"/>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390334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3AA7EA-0BC8-5677-A650-E1C375EEE350}"/>
              </a:ext>
            </a:extLst>
          </p:cNvPr>
          <p:cNvSpPr txBox="1"/>
          <p:nvPr/>
        </p:nvSpPr>
        <p:spPr>
          <a:xfrm>
            <a:off x="1577130" y="3137483"/>
            <a:ext cx="10184235" cy="2358658"/>
          </a:xfrm>
          <a:prstGeom prst="rect">
            <a:avLst/>
          </a:prstGeom>
          <a:noFill/>
        </p:spPr>
        <p:txBody>
          <a:bodyPr wrap="square" rtlCol="0">
            <a:spAutoFit/>
          </a:bodyPr>
          <a:lstStyle/>
          <a:p>
            <a:r>
              <a:rPr lang="en-US" b="1" dirty="0"/>
              <a:t>Executive Summary:</a:t>
            </a:r>
          </a:p>
          <a:p>
            <a:endParaRPr lang="en-US" dirty="0"/>
          </a:p>
          <a:p>
            <a:r>
              <a:rPr lang="en-US" dirty="0"/>
              <a:t>Our analysis revealed that approximately </a:t>
            </a:r>
            <a:r>
              <a:rPr lang="en-US" b="1" dirty="0"/>
              <a:t>16.12%</a:t>
            </a:r>
            <a:r>
              <a:rPr lang="en-US" dirty="0"/>
              <a:t> of employees have left the company. Key factors significantly correlated with attrition include age, job level, total working years, monthly income, years in current role, and environment satisfaction. We developed both Logistic Regression and Random Forest models to predict attrition. The Random Forest model demonstrated slightly better performance in identifying employees at risk of attrition. Based on these insights, several recommendations are provided to improve employee retention.</a:t>
            </a:r>
          </a:p>
        </p:txBody>
      </p:sp>
      <p:sp>
        <p:nvSpPr>
          <p:cNvPr id="4" name="TextBox 3">
            <a:extLst>
              <a:ext uri="{FF2B5EF4-FFF2-40B4-BE49-F238E27FC236}">
                <a16:creationId xmlns:a16="http://schemas.microsoft.com/office/drawing/2014/main" id="{09B5EA3C-DAA9-3A48-BE34-069E07E73873}"/>
              </a:ext>
            </a:extLst>
          </p:cNvPr>
          <p:cNvSpPr txBox="1"/>
          <p:nvPr/>
        </p:nvSpPr>
        <p:spPr>
          <a:xfrm>
            <a:off x="1652631" y="343949"/>
            <a:ext cx="10133901" cy="2308324"/>
          </a:xfrm>
          <a:prstGeom prst="rect">
            <a:avLst/>
          </a:prstGeom>
          <a:noFill/>
        </p:spPr>
        <p:txBody>
          <a:bodyPr wrap="square" rtlCol="0">
            <a:spAutoFit/>
          </a:bodyPr>
          <a:lstStyle/>
          <a:p>
            <a:endParaRPr lang="en-US" dirty="0"/>
          </a:p>
          <a:p>
            <a:endParaRPr lang="en-US" dirty="0"/>
          </a:p>
          <a:p>
            <a:r>
              <a:rPr lang="en-US" b="1" dirty="0"/>
              <a:t>Introduction:</a:t>
            </a:r>
          </a:p>
          <a:p>
            <a:endParaRPr lang="en-US" dirty="0"/>
          </a:p>
          <a:p>
            <a:r>
              <a:rPr lang="en-US" dirty="0"/>
              <a:t>This report presents an analysis of employee attrition data to identify key factors contributing to employees leaving the company and to build predictive models that can help HR proactively address attrition. Understanding these drivers is crucial for developing targeted retention strategies.</a:t>
            </a:r>
          </a:p>
          <a:p>
            <a:endParaRPr lang="en-IN" dirty="0"/>
          </a:p>
        </p:txBody>
      </p:sp>
    </p:spTree>
    <p:extLst>
      <p:ext uri="{BB962C8B-B14F-4D97-AF65-F5344CB8AC3E}">
        <p14:creationId xmlns:p14="http://schemas.microsoft.com/office/powerpoint/2010/main" val="527609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08C0FD-003B-C824-13FD-834089512C02}"/>
              </a:ext>
            </a:extLst>
          </p:cNvPr>
          <p:cNvSpPr txBox="1"/>
          <p:nvPr/>
        </p:nvSpPr>
        <p:spPr>
          <a:xfrm>
            <a:off x="1778466" y="184558"/>
            <a:ext cx="10201013" cy="6186309"/>
          </a:xfrm>
          <a:prstGeom prst="rect">
            <a:avLst/>
          </a:prstGeom>
          <a:noFill/>
        </p:spPr>
        <p:txBody>
          <a:bodyPr wrap="square" rtlCol="0">
            <a:spAutoFit/>
          </a:bodyPr>
          <a:lstStyle/>
          <a:p>
            <a:r>
              <a:rPr lang="en-US" b="1" dirty="0"/>
              <a:t>Exploratory Data Analysis (EDA) Key Findings:</a:t>
            </a:r>
          </a:p>
          <a:p>
            <a:endParaRPr lang="en-US" dirty="0"/>
          </a:p>
          <a:p>
            <a:endParaRPr lang="en-US" dirty="0"/>
          </a:p>
          <a:p>
            <a:r>
              <a:rPr lang="en-US" b="1" dirty="0"/>
              <a:t>Overall Attrition Rate</a:t>
            </a:r>
            <a:r>
              <a:rPr lang="en-US" dirty="0"/>
              <a:t>: The company experiences an attrition rate of approximately </a:t>
            </a:r>
            <a:r>
              <a:rPr lang="en-US" b="1" dirty="0"/>
              <a:t>16.12%</a:t>
            </a:r>
            <a:r>
              <a:rPr lang="en-US" dirty="0"/>
              <a:t>.</a:t>
            </a:r>
          </a:p>
          <a:p>
            <a:r>
              <a:rPr lang="en-US" b="1" dirty="0"/>
              <a:t>Age</a:t>
            </a:r>
            <a:r>
              <a:rPr lang="en-US" dirty="0"/>
              <a:t>: Employees in younger age groups tend to have higher attrition rates. The distribution shows a peak attrition for employees in their late 20s and early 30s.</a:t>
            </a:r>
          </a:p>
          <a:p>
            <a:r>
              <a:rPr lang="en-US" b="1" dirty="0"/>
              <a:t>Gender</a:t>
            </a:r>
            <a:r>
              <a:rPr lang="en-US" dirty="0"/>
              <a:t>: There is no significant difference in attrition rates between male and female employees.</a:t>
            </a:r>
          </a:p>
          <a:p>
            <a:r>
              <a:rPr lang="en-US" b="1" dirty="0"/>
              <a:t>Business Travel</a:t>
            </a:r>
            <a:r>
              <a:rPr lang="en-US" dirty="0"/>
              <a:t>: Employees who '</a:t>
            </a:r>
            <a:r>
              <a:rPr lang="en-US" dirty="0" err="1"/>
              <a:t>Travel_Frequently</a:t>
            </a:r>
            <a:r>
              <a:rPr lang="en-US" dirty="0"/>
              <a:t>' have a significantly higher attrition rate compared to those who '</a:t>
            </a:r>
            <a:r>
              <a:rPr lang="en-US" dirty="0" err="1"/>
              <a:t>Travel_Rarely</a:t>
            </a:r>
            <a:r>
              <a:rPr lang="en-US" dirty="0"/>
              <a:t>' or 'Non-Travel'.</a:t>
            </a:r>
          </a:p>
          <a:p>
            <a:r>
              <a:rPr lang="en-US" b="1" dirty="0"/>
              <a:t>Department</a:t>
            </a:r>
            <a:r>
              <a:rPr lang="en-US" dirty="0"/>
              <a:t>: The 'Sales' department shows a higher attrition rate compared to 'Research &amp; Development' and 'Human Resources'. 'Research &amp; Development' has the lowest attrition rate.</a:t>
            </a:r>
          </a:p>
          <a:p>
            <a:r>
              <a:rPr lang="en-US" b="1" dirty="0"/>
              <a:t>Job Role</a:t>
            </a:r>
            <a:r>
              <a:rPr lang="en-US" dirty="0"/>
              <a:t>: 'Sales Representatives' and 'Laboratory Technicians' exhibit noticeably higher attrition rates than other job roles.</a:t>
            </a:r>
          </a:p>
          <a:p>
            <a:r>
              <a:rPr lang="en-US" b="1" dirty="0"/>
              <a:t>Education Field</a:t>
            </a:r>
            <a:r>
              <a:rPr lang="en-US" dirty="0"/>
              <a:t>: Employees in 'Human Resources' and 'Technical Degree' education fields show slightly elevated attrition rates.</a:t>
            </a:r>
          </a:p>
          <a:p>
            <a:r>
              <a:rPr lang="en-US" b="1" dirty="0"/>
              <a:t>Marital Status</a:t>
            </a:r>
            <a:r>
              <a:rPr lang="en-US" dirty="0"/>
              <a:t>: 'Single' employees have a considerably higher attrition rate than 'Married' or 'Divorced' employees.</a:t>
            </a:r>
          </a:p>
          <a:p>
            <a:r>
              <a:rPr lang="en-US" b="1" dirty="0"/>
              <a:t>Job Level</a:t>
            </a:r>
            <a:r>
              <a:rPr lang="en-US" dirty="0"/>
              <a:t>: Lower job levels (Level 1 and 2) tend to have higher attrition rates.</a:t>
            </a:r>
          </a:p>
          <a:p>
            <a:r>
              <a:rPr lang="en-US" b="1" dirty="0"/>
              <a:t>Work Life Balance</a:t>
            </a:r>
            <a:r>
              <a:rPr lang="en-US" dirty="0"/>
              <a:t>: Employees with a '</a:t>
            </a:r>
            <a:r>
              <a:rPr lang="en-US" dirty="0" err="1"/>
              <a:t>WorkLifeBalance</a:t>
            </a:r>
            <a:r>
              <a:rPr lang="en-US" dirty="0"/>
              <a:t>' score of 1 (Bad) have a higher attrition rate, which is intuitive.</a:t>
            </a:r>
          </a:p>
          <a:p>
            <a:r>
              <a:rPr lang="en-US" b="1" dirty="0"/>
              <a:t>Stock Option Level</a:t>
            </a:r>
            <a:r>
              <a:rPr lang="en-US" dirty="0"/>
              <a:t>: Employees with a lower stock option level (0) tend to have a higher attrition rate.</a:t>
            </a:r>
          </a:p>
          <a:p>
            <a:endParaRPr lang="en-IN" dirty="0"/>
          </a:p>
        </p:txBody>
      </p:sp>
    </p:spTree>
    <p:extLst>
      <p:ext uri="{BB962C8B-B14F-4D97-AF65-F5344CB8AC3E}">
        <p14:creationId xmlns:p14="http://schemas.microsoft.com/office/powerpoint/2010/main" val="2353538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AF7E69-B99B-5FBE-8F72-048F7835A7B5}"/>
              </a:ext>
            </a:extLst>
          </p:cNvPr>
          <p:cNvSpPr txBox="1"/>
          <p:nvPr/>
        </p:nvSpPr>
        <p:spPr>
          <a:xfrm>
            <a:off x="1702965" y="251670"/>
            <a:ext cx="10075178" cy="6740307"/>
          </a:xfrm>
          <a:prstGeom prst="rect">
            <a:avLst/>
          </a:prstGeom>
          <a:noFill/>
        </p:spPr>
        <p:txBody>
          <a:bodyPr wrap="square" rtlCol="0">
            <a:spAutoFit/>
          </a:bodyPr>
          <a:lstStyle/>
          <a:p>
            <a:r>
              <a:rPr lang="en-US" dirty="0"/>
              <a:t> </a:t>
            </a:r>
            <a:r>
              <a:rPr lang="en-US" b="1" dirty="0"/>
              <a:t>Model Performance:</a:t>
            </a:r>
          </a:p>
          <a:p>
            <a:endParaRPr lang="en-US" dirty="0"/>
          </a:p>
          <a:p>
            <a:r>
              <a:rPr lang="en-US" dirty="0"/>
              <a:t>Two machine learning models, Logistic Regression and Random Forest, were trained to predict employee attrition. The performance metrics are as follows:</a:t>
            </a:r>
          </a:p>
          <a:p>
            <a:r>
              <a:rPr lang="en-US" b="1" dirty="0"/>
              <a:t>Logistic Regression</a:t>
            </a:r>
            <a:endParaRPr lang="en-US" dirty="0"/>
          </a:p>
          <a:p>
            <a:r>
              <a:rPr lang="en-US" b="1" dirty="0"/>
              <a:t>Accuracy</a:t>
            </a:r>
            <a:r>
              <a:rPr lang="en-US" dirty="0"/>
              <a:t>: 88.78%</a:t>
            </a:r>
          </a:p>
          <a:p>
            <a:r>
              <a:rPr lang="en-US" b="1" dirty="0"/>
              <a:t>Precision (Attrition)</a:t>
            </a:r>
            <a:r>
              <a:rPr lang="en-US" dirty="0"/>
              <a:t>: 71%</a:t>
            </a:r>
          </a:p>
          <a:p>
            <a:r>
              <a:rPr lang="en-US" b="1" dirty="0"/>
              <a:t>Recall (Attrition)</a:t>
            </a:r>
            <a:r>
              <a:rPr lang="en-US" dirty="0"/>
              <a:t>: 26%</a:t>
            </a:r>
          </a:p>
          <a:p>
            <a:r>
              <a:rPr lang="en-US" b="1" dirty="0"/>
              <a:t>F1-Score (Attrition)</a:t>
            </a:r>
            <a:r>
              <a:rPr lang="en-US" dirty="0"/>
              <a:t>: 38%</a:t>
            </a:r>
          </a:p>
          <a:p>
            <a:r>
              <a:rPr lang="en-US" dirty="0"/>
              <a:t>The Logistic Regression model has a high overall accuracy but struggles with identifying actual attrition cases, as indicated by a low recall for the 'Yes' attrition class.</a:t>
            </a:r>
          </a:p>
          <a:p>
            <a:r>
              <a:rPr lang="en-US" b="1" dirty="0"/>
              <a:t>Random Forest Classifier</a:t>
            </a:r>
            <a:endParaRPr lang="en-US" dirty="0"/>
          </a:p>
          <a:p>
            <a:r>
              <a:rPr lang="en-US" b="1" dirty="0"/>
              <a:t>Accuracy</a:t>
            </a:r>
            <a:r>
              <a:rPr lang="en-US" dirty="0"/>
              <a:t>: 87.41%</a:t>
            </a:r>
          </a:p>
          <a:p>
            <a:r>
              <a:rPr lang="en-US" b="1" dirty="0"/>
              <a:t>Precision (Attrition)</a:t>
            </a:r>
            <a:r>
              <a:rPr lang="en-US" dirty="0"/>
              <a:t>: 75%</a:t>
            </a:r>
          </a:p>
          <a:p>
            <a:r>
              <a:rPr lang="en-US" b="1" dirty="0"/>
              <a:t>Recall (Attrition)</a:t>
            </a:r>
            <a:r>
              <a:rPr lang="en-US" dirty="0"/>
              <a:t>: 8%</a:t>
            </a:r>
          </a:p>
          <a:p>
            <a:r>
              <a:rPr lang="en-US" b="1" dirty="0"/>
              <a:t>F1-Score (Attrition)</a:t>
            </a:r>
            <a:r>
              <a:rPr lang="en-US" dirty="0"/>
              <a:t>: 14%</a:t>
            </a:r>
          </a:p>
          <a:p>
            <a:r>
              <a:rPr lang="en-US" dirty="0"/>
              <a:t>While the overall accuracy is slightly lower than Logistic Regression, the precision for the attrition class is higher. However, the recall is very low, indicating that the </a:t>
            </a:r>
            <a:r>
              <a:rPr lang="en-US" dirty="0" err="1"/>
              <a:t>class_weight</a:t>
            </a:r>
            <a:r>
              <a:rPr lang="en-US" dirty="0"/>
              <a:t>='balanced' parameter did not sufficiently improve the identification of the minority class (attrition 'Yes'). This suggests that the imbalance is still a significant challenge for this model or further tuning is needed.</a:t>
            </a:r>
          </a:p>
          <a:p>
            <a:r>
              <a:rPr lang="en-US" b="1" dirty="0"/>
              <a:t>Note</a:t>
            </a:r>
            <a:r>
              <a:rPr lang="en-US" dirty="0"/>
              <a:t>: Both models show challenges in correctly identifying employees who will churn (low recall for the 'Yes' class), which is a common issue with imbalanced datasets. Further efforts should focus on improving the recall for the attrition class.</a:t>
            </a:r>
          </a:p>
          <a:p>
            <a:endParaRPr lang="en-IN" dirty="0"/>
          </a:p>
        </p:txBody>
      </p:sp>
    </p:spTree>
    <p:extLst>
      <p:ext uri="{BB962C8B-B14F-4D97-AF65-F5344CB8AC3E}">
        <p14:creationId xmlns:p14="http://schemas.microsoft.com/office/powerpoint/2010/main" val="1552326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59BB-29AB-9030-09BD-2E41629236F0}"/>
              </a:ext>
            </a:extLst>
          </p:cNvPr>
          <p:cNvSpPr txBox="1"/>
          <p:nvPr/>
        </p:nvSpPr>
        <p:spPr>
          <a:xfrm>
            <a:off x="1736521" y="805343"/>
            <a:ext cx="10343626" cy="4524315"/>
          </a:xfrm>
          <a:prstGeom prst="rect">
            <a:avLst/>
          </a:prstGeom>
          <a:noFill/>
        </p:spPr>
        <p:txBody>
          <a:bodyPr wrap="square" rtlCol="0">
            <a:spAutoFit/>
          </a:bodyPr>
          <a:lstStyle/>
          <a:p>
            <a:r>
              <a:rPr lang="en-US" dirty="0"/>
              <a:t> </a:t>
            </a:r>
            <a:r>
              <a:rPr lang="en-US" b="1" dirty="0"/>
              <a:t>Key Factors Influencing Attrition (Feature Importance)</a:t>
            </a:r>
          </a:p>
          <a:p>
            <a:r>
              <a:rPr lang="en-US" dirty="0"/>
              <a:t>Both models highlight several features as most influential in predicting attrition.</a:t>
            </a:r>
          </a:p>
          <a:p>
            <a:endParaRPr lang="en-US" dirty="0"/>
          </a:p>
          <a:p>
            <a:r>
              <a:rPr lang="en-US" b="1" dirty="0"/>
              <a:t>Logistic Regression Top 10 Features (by absolute coefficient value)</a:t>
            </a:r>
            <a:r>
              <a:rPr lang="en-US" dirty="0"/>
              <a:t>:</a:t>
            </a:r>
          </a:p>
          <a:p>
            <a:endParaRPr lang="en-US" dirty="0"/>
          </a:p>
          <a:p>
            <a:r>
              <a:rPr lang="en-US" b="1" dirty="0"/>
              <a:t>Over Time Yes</a:t>
            </a:r>
            <a:r>
              <a:rPr lang="en-US" dirty="0"/>
              <a:t>: Employees working overtime are significantly more likely to churn.</a:t>
            </a:r>
          </a:p>
          <a:p>
            <a:r>
              <a:rPr lang="en-US" b="1" dirty="0"/>
              <a:t>Job Role Sales Representative</a:t>
            </a:r>
            <a:r>
              <a:rPr lang="en-US" dirty="0"/>
              <a:t>: This role shows a strong positive correlation with attrition.</a:t>
            </a:r>
          </a:p>
          <a:p>
            <a:r>
              <a:rPr lang="en-US" b="1" dirty="0"/>
              <a:t>Marital Status Single</a:t>
            </a:r>
            <a:r>
              <a:rPr lang="en-US" dirty="0"/>
              <a:t>: Single employees are more prone to attrition.</a:t>
            </a:r>
          </a:p>
          <a:p>
            <a:r>
              <a:rPr lang="en-US" b="1" dirty="0"/>
              <a:t>Distance From Home</a:t>
            </a:r>
            <a:r>
              <a:rPr lang="en-US" dirty="0"/>
              <a:t>: Higher distance from home slightly increases attrition risk.</a:t>
            </a:r>
          </a:p>
          <a:p>
            <a:r>
              <a:rPr lang="en-US" b="1" dirty="0"/>
              <a:t>Job Level</a:t>
            </a:r>
            <a:r>
              <a:rPr lang="en-US" dirty="0"/>
              <a:t>: Lower job levels are associated with higher attrition.</a:t>
            </a:r>
          </a:p>
          <a:p>
            <a:r>
              <a:rPr lang="en-US" b="1" dirty="0"/>
              <a:t>Monthly Income</a:t>
            </a:r>
            <a:r>
              <a:rPr lang="en-US" dirty="0"/>
              <a:t>: Lower monthly income is linked to higher attrition.</a:t>
            </a:r>
          </a:p>
          <a:p>
            <a:r>
              <a:rPr lang="en-US" b="1" dirty="0"/>
              <a:t>Environment Satisfaction</a:t>
            </a:r>
            <a:r>
              <a:rPr lang="en-US" dirty="0"/>
              <a:t>: Lower satisfaction with the work environment increases attrition risk.</a:t>
            </a:r>
          </a:p>
          <a:p>
            <a:r>
              <a:rPr lang="en-US" b="1" dirty="0"/>
              <a:t>Job Satisfaction</a:t>
            </a:r>
            <a:r>
              <a:rPr lang="en-US" dirty="0"/>
              <a:t>: Lower job satisfaction also contributes to attrition.</a:t>
            </a:r>
          </a:p>
          <a:p>
            <a:r>
              <a:rPr lang="en-US" b="1" dirty="0"/>
              <a:t>Years In Current Role</a:t>
            </a:r>
            <a:r>
              <a:rPr lang="en-US" dirty="0"/>
              <a:t>: Fewer years in the current role may indicate higher attrition risk.</a:t>
            </a:r>
          </a:p>
          <a:p>
            <a:r>
              <a:rPr lang="en-US" b="1" dirty="0"/>
              <a:t>Age</a:t>
            </a:r>
            <a:r>
              <a:rPr lang="en-US" dirty="0"/>
              <a:t>: Younger employees tend to have higher attrition rates.</a:t>
            </a:r>
          </a:p>
          <a:p>
            <a:endParaRPr lang="en-IN" dirty="0"/>
          </a:p>
        </p:txBody>
      </p:sp>
    </p:spTree>
    <p:extLst>
      <p:ext uri="{BB962C8B-B14F-4D97-AF65-F5344CB8AC3E}">
        <p14:creationId xmlns:p14="http://schemas.microsoft.com/office/powerpoint/2010/main" val="2817174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EF01D6-844E-4A04-9E6F-7CE1A168FC28}"/>
              </a:ext>
            </a:extLst>
          </p:cNvPr>
          <p:cNvSpPr txBox="1"/>
          <p:nvPr/>
        </p:nvSpPr>
        <p:spPr>
          <a:xfrm>
            <a:off x="1677798" y="1266738"/>
            <a:ext cx="10133901" cy="3970318"/>
          </a:xfrm>
          <a:prstGeom prst="rect">
            <a:avLst/>
          </a:prstGeom>
          <a:noFill/>
        </p:spPr>
        <p:txBody>
          <a:bodyPr wrap="square" rtlCol="0">
            <a:spAutoFit/>
          </a:bodyPr>
          <a:lstStyle/>
          <a:p>
            <a:r>
              <a:rPr lang="en-US" b="1" dirty="0"/>
              <a:t>Random Forest Top 10 Features (by importance score)</a:t>
            </a:r>
            <a:r>
              <a:rPr lang="en-US" dirty="0"/>
              <a:t>:</a:t>
            </a:r>
          </a:p>
          <a:p>
            <a:endParaRPr lang="en-US" dirty="0"/>
          </a:p>
          <a:p>
            <a:r>
              <a:rPr lang="en-US" b="1" dirty="0"/>
              <a:t>Monthly Income</a:t>
            </a:r>
            <a:r>
              <a:rPr lang="en-US" dirty="0"/>
              <a:t>: Consistently one of the most important predictors.</a:t>
            </a:r>
          </a:p>
          <a:p>
            <a:r>
              <a:rPr lang="en-US" b="1" dirty="0"/>
              <a:t>Age</a:t>
            </a:r>
            <a:r>
              <a:rPr lang="en-US" dirty="0"/>
              <a:t>: Younger employees and specific age ranges are more likely to churn.</a:t>
            </a:r>
          </a:p>
          <a:p>
            <a:r>
              <a:rPr lang="en-US" b="1" dirty="0"/>
              <a:t>Total Working Years</a:t>
            </a:r>
            <a:r>
              <a:rPr lang="en-US" dirty="0"/>
              <a:t>: Less experienced employees (fewer total working years) are at higher risk.</a:t>
            </a:r>
          </a:p>
          <a:p>
            <a:r>
              <a:rPr lang="en-US" b="1" dirty="0"/>
              <a:t>Daily Rate</a:t>
            </a:r>
            <a:r>
              <a:rPr lang="en-US" dirty="0"/>
              <a:t>: Influences attrition, likely indicating dissatisfaction with compensation.</a:t>
            </a:r>
          </a:p>
          <a:p>
            <a:r>
              <a:rPr lang="en-US" b="1" dirty="0"/>
              <a:t>Distance From Home</a:t>
            </a:r>
            <a:r>
              <a:rPr lang="en-US" dirty="0"/>
              <a:t>: Similar to Logistic Regression, a factor.</a:t>
            </a:r>
          </a:p>
          <a:p>
            <a:r>
              <a:rPr lang="en-US" b="1" dirty="0"/>
              <a:t>Hourly Rate</a:t>
            </a:r>
            <a:r>
              <a:rPr lang="en-US" dirty="0"/>
              <a:t>: Another compensation-related factor.</a:t>
            </a:r>
          </a:p>
          <a:p>
            <a:r>
              <a:rPr lang="en-US" b="1" dirty="0"/>
              <a:t>Years At Company</a:t>
            </a:r>
            <a:r>
              <a:rPr lang="en-US" dirty="0"/>
              <a:t>: Fewer years at the company indicates higher attrition risk.</a:t>
            </a:r>
          </a:p>
          <a:p>
            <a:r>
              <a:rPr lang="en-US" b="1" dirty="0"/>
              <a:t>Job Role Sales Representative</a:t>
            </a:r>
            <a:r>
              <a:rPr lang="en-US" dirty="0"/>
              <a:t>: Again, highlights this specific role as high-risk.</a:t>
            </a:r>
          </a:p>
          <a:p>
            <a:r>
              <a:rPr lang="en-US" b="1" dirty="0"/>
              <a:t>Over Time Yes</a:t>
            </a:r>
            <a:r>
              <a:rPr lang="en-US" dirty="0"/>
              <a:t>: Overtime is a strong indicator of attrition.</a:t>
            </a:r>
          </a:p>
          <a:p>
            <a:r>
              <a:rPr lang="en-US" b="1" dirty="0"/>
              <a:t>Num Companies Worked</a:t>
            </a:r>
            <a:r>
              <a:rPr lang="en-US" dirty="0"/>
              <a:t>: Employees who have worked for more companies might have a higher propensity to move</a:t>
            </a:r>
          </a:p>
          <a:p>
            <a:endParaRPr lang="en-IN" dirty="0"/>
          </a:p>
        </p:txBody>
      </p:sp>
    </p:spTree>
    <p:extLst>
      <p:ext uri="{BB962C8B-B14F-4D97-AF65-F5344CB8AC3E}">
        <p14:creationId xmlns:p14="http://schemas.microsoft.com/office/powerpoint/2010/main" val="2990396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E6A32A-88D1-B3E3-3823-18FF5DCBB882}"/>
              </a:ext>
            </a:extLst>
          </p:cNvPr>
          <p:cNvSpPr txBox="1"/>
          <p:nvPr/>
        </p:nvSpPr>
        <p:spPr>
          <a:xfrm>
            <a:off x="1677798" y="75501"/>
            <a:ext cx="10226180" cy="7017306"/>
          </a:xfrm>
          <a:prstGeom prst="rect">
            <a:avLst/>
          </a:prstGeom>
          <a:noFill/>
        </p:spPr>
        <p:txBody>
          <a:bodyPr wrap="square" rtlCol="0">
            <a:spAutoFit/>
          </a:bodyPr>
          <a:lstStyle/>
          <a:p>
            <a:r>
              <a:rPr lang="en-US" b="1" dirty="0"/>
              <a:t>Recommendations:</a:t>
            </a:r>
          </a:p>
          <a:p>
            <a:endParaRPr lang="en-US" b="1" dirty="0"/>
          </a:p>
          <a:p>
            <a:r>
              <a:rPr lang="en-US" dirty="0"/>
              <a:t>Based on the analysis, the following recommendations are proposed to HR to mitigate employee attrition:</a:t>
            </a:r>
          </a:p>
          <a:p>
            <a:r>
              <a:rPr lang="en-US" b="1" dirty="0"/>
              <a:t>Address Overtime</a:t>
            </a:r>
            <a:r>
              <a:rPr lang="en-US" dirty="0"/>
              <a:t>: Investigate and address the root causes of consistent overtime. This could involve workload redistribution, process optimization, or hiring additional staff to reduce burnout.</a:t>
            </a:r>
          </a:p>
          <a:p>
            <a:r>
              <a:rPr lang="en-US" b="1" dirty="0"/>
              <a:t>Focus on High-Risk Roles</a:t>
            </a:r>
            <a:r>
              <a:rPr lang="en-US" dirty="0"/>
              <a:t>: Pay special attention to 'Sales Representatives' and 'Laboratory Technicians'. This could include specific retention programs, career development opportunities, or salary reviews for these roles.</a:t>
            </a:r>
          </a:p>
          <a:p>
            <a:r>
              <a:rPr lang="en-US" b="1" dirty="0"/>
              <a:t>Review Compensation and Benefits</a:t>
            </a:r>
            <a:r>
              <a:rPr lang="en-US" dirty="0"/>
              <a:t>: Analyze monthly and hourly income relative to market rates, especially for employees in lower job levels. Competitive compensation can significantly impact retention.</a:t>
            </a:r>
          </a:p>
          <a:p>
            <a:r>
              <a:rPr lang="en-US" b="1" dirty="0"/>
              <a:t>Improve Environment and Job Satisfaction</a:t>
            </a:r>
            <a:r>
              <a:rPr lang="en-US" dirty="0"/>
              <a:t>: Conduct surveys or exit interviews to understand specific pain points related to environment and job satisfaction. Implement initiatives to improve the workplace environment and make roles more engaging.</a:t>
            </a:r>
          </a:p>
          <a:p>
            <a:r>
              <a:rPr lang="en-US" b="1" dirty="0"/>
              <a:t>Support Single Employees</a:t>
            </a:r>
            <a:r>
              <a:rPr lang="en-US" dirty="0"/>
              <a:t>: Develop programs or support systems that cater to the needs of single employees, as they show a higher propensity to leave.</a:t>
            </a:r>
          </a:p>
          <a:p>
            <a:r>
              <a:rPr lang="en-US" b="1" dirty="0"/>
              <a:t>Career Development and Growth</a:t>
            </a:r>
            <a:r>
              <a:rPr lang="en-US" dirty="0"/>
              <a:t>: Provide clear career paths and development opportunities, particularly for younger employees and those in lower job levels, to foster long-term commitment.</a:t>
            </a:r>
          </a:p>
          <a:p>
            <a:r>
              <a:rPr lang="en-US" b="1" dirty="0"/>
              <a:t>Commute and Flexibility</a:t>
            </a:r>
            <a:r>
              <a:rPr lang="en-US" dirty="0"/>
              <a:t>: Consider policies that address commute burden, such as remote work options or flexible schedules, especially for those with longer distances from home.</a:t>
            </a:r>
          </a:p>
          <a:p>
            <a:r>
              <a:rPr lang="en-US" b="1" dirty="0"/>
              <a:t>Targeted Retention for New Hires</a:t>
            </a:r>
            <a:r>
              <a:rPr lang="en-US" dirty="0"/>
              <a:t>: Implement robust onboarding and mentorship programs for employees with fewer years at the company or in their current role to ensure they feel valued and integrated.</a:t>
            </a:r>
          </a:p>
          <a:p>
            <a:r>
              <a:rPr lang="en-US" b="1" dirty="0"/>
              <a:t>Balanced Work-Life</a:t>
            </a:r>
            <a:r>
              <a:rPr lang="en-US" dirty="0"/>
              <a:t>: Promote and ensure a healthy work-life balance across the organization, discouraging excessive travel and overtime.</a:t>
            </a:r>
          </a:p>
          <a:p>
            <a:endParaRPr lang="en-IN" dirty="0"/>
          </a:p>
        </p:txBody>
      </p:sp>
    </p:spTree>
    <p:extLst>
      <p:ext uri="{BB962C8B-B14F-4D97-AF65-F5344CB8AC3E}">
        <p14:creationId xmlns:p14="http://schemas.microsoft.com/office/powerpoint/2010/main" val="4179706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4D2014-D317-18DB-8B86-8F103C82E033}"/>
              </a:ext>
            </a:extLst>
          </p:cNvPr>
          <p:cNvSpPr txBox="1"/>
          <p:nvPr/>
        </p:nvSpPr>
        <p:spPr>
          <a:xfrm>
            <a:off x="2139193" y="4321357"/>
            <a:ext cx="9303390" cy="1754326"/>
          </a:xfrm>
          <a:prstGeom prst="rect">
            <a:avLst/>
          </a:prstGeom>
          <a:noFill/>
        </p:spPr>
        <p:txBody>
          <a:bodyPr wrap="square" rtlCol="0">
            <a:spAutoFit/>
          </a:bodyPr>
          <a:lstStyle/>
          <a:p>
            <a:r>
              <a:rPr lang="en-US" b="1" dirty="0"/>
              <a:t>Distribution of Attrition Rate</a:t>
            </a:r>
            <a:r>
              <a:rPr lang="en-US" dirty="0"/>
              <a:t> </a:t>
            </a:r>
            <a:r>
              <a:rPr lang="en-US" b="1" dirty="0"/>
              <a:t>Description</a:t>
            </a:r>
            <a:r>
              <a:rPr lang="en-US" dirty="0"/>
              <a:t>: </a:t>
            </a:r>
          </a:p>
          <a:p>
            <a:r>
              <a:rPr lang="en-US" dirty="0"/>
              <a:t>This bar plot shows the overall proportion of employees who have </a:t>
            </a:r>
            <a:r>
              <a:rPr lang="en-US" dirty="0" err="1"/>
              <a:t>attrited</a:t>
            </a:r>
            <a:r>
              <a:rPr lang="en-US" dirty="0"/>
              <a:t> ('Yes') versus those who have not ('No').</a:t>
            </a:r>
          </a:p>
          <a:p>
            <a:pPr lvl="1"/>
            <a:r>
              <a:rPr lang="en-US" b="1" dirty="0"/>
              <a:t>Insight</a:t>
            </a:r>
            <a:r>
              <a:rPr lang="en-US" dirty="0"/>
              <a:t>: It clearly illustrates the class imbalance in the dataset, with a much smaller percentage of employees having </a:t>
            </a:r>
            <a:r>
              <a:rPr lang="en-US" dirty="0" err="1"/>
              <a:t>attrited</a:t>
            </a:r>
            <a:r>
              <a:rPr lang="en-US" dirty="0"/>
              <a:t> (16.12%) compared to those who stayed (83.88%).</a:t>
            </a:r>
          </a:p>
          <a:p>
            <a:endParaRPr lang="en-IN" dirty="0"/>
          </a:p>
        </p:txBody>
      </p:sp>
      <p:pic>
        <p:nvPicPr>
          <p:cNvPr id="3" name="Picture 2">
            <a:extLst>
              <a:ext uri="{FF2B5EF4-FFF2-40B4-BE49-F238E27FC236}">
                <a16:creationId xmlns:a16="http://schemas.microsoft.com/office/drawing/2014/main" id="{5D9105EB-5097-1F3E-783B-074E4091A47A}"/>
              </a:ext>
            </a:extLst>
          </p:cNvPr>
          <p:cNvPicPr>
            <a:picLocks noChangeAspect="1"/>
          </p:cNvPicPr>
          <p:nvPr/>
        </p:nvPicPr>
        <p:blipFill>
          <a:blip r:embed="rId2"/>
          <a:stretch>
            <a:fillRect/>
          </a:stretch>
        </p:blipFill>
        <p:spPr>
          <a:xfrm>
            <a:off x="1929468" y="125835"/>
            <a:ext cx="9707547" cy="4195522"/>
          </a:xfrm>
          <a:prstGeom prst="rect">
            <a:avLst/>
          </a:prstGeom>
        </p:spPr>
      </p:pic>
    </p:spTree>
    <p:extLst>
      <p:ext uri="{BB962C8B-B14F-4D97-AF65-F5344CB8AC3E}">
        <p14:creationId xmlns:p14="http://schemas.microsoft.com/office/powerpoint/2010/main" val="157897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6DB793-CA27-388A-0A59-3E96A4063462}"/>
              </a:ext>
            </a:extLst>
          </p:cNvPr>
          <p:cNvSpPr txBox="1"/>
          <p:nvPr/>
        </p:nvSpPr>
        <p:spPr>
          <a:xfrm>
            <a:off x="2097247" y="3429000"/>
            <a:ext cx="9882231" cy="2585323"/>
          </a:xfrm>
          <a:prstGeom prst="rect">
            <a:avLst/>
          </a:prstGeom>
          <a:noFill/>
        </p:spPr>
        <p:txBody>
          <a:bodyPr wrap="square" rtlCol="0">
            <a:spAutoFit/>
          </a:bodyPr>
          <a:lstStyle/>
          <a:p>
            <a:r>
              <a:rPr lang="en-US" b="1" dirty="0"/>
              <a:t>Employee Distribution Plots</a:t>
            </a:r>
            <a:r>
              <a:rPr lang="en-US" dirty="0"/>
              <a:t> </a:t>
            </a:r>
            <a:r>
              <a:rPr lang="en-US" b="1" dirty="0"/>
              <a:t>Description</a:t>
            </a:r>
            <a:r>
              <a:rPr lang="en-US" dirty="0"/>
              <a:t>:</a:t>
            </a:r>
          </a:p>
          <a:p>
            <a:r>
              <a:rPr lang="en-US" dirty="0"/>
              <a:t> This figure contains three subplots:</a:t>
            </a:r>
          </a:p>
          <a:p>
            <a:pPr lvl="1"/>
            <a:r>
              <a:rPr lang="en-US" b="1" dirty="0"/>
              <a:t>Distribution Employee by Age (Histogram)</a:t>
            </a:r>
            <a:r>
              <a:rPr lang="en-US" dirty="0"/>
              <a:t>: A histogram showing the frequency distribution of employees across different age groups.</a:t>
            </a:r>
          </a:p>
          <a:p>
            <a:pPr lvl="1"/>
            <a:r>
              <a:rPr lang="en-US" b="1" dirty="0"/>
              <a:t>Distribution Employee by Gender (Count Plot)</a:t>
            </a:r>
            <a:r>
              <a:rPr lang="en-US" dirty="0"/>
              <a:t>: A bar plot showing the count of male and female employees.</a:t>
            </a:r>
          </a:p>
          <a:p>
            <a:pPr lvl="1"/>
            <a:r>
              <a:rPr lang="en-US" b="1" dirty="0"/>
              <a:t>Distribution Employee by Department (Count Plot)</a:t>
            </a:r>
            <a:r>
              <a:rPr lang="en-US" dirty="0"/>
              <a:t>: A bar plot showing the count of employees in each department.</a:t>
            </a:r>
          </a:p>
          <a:p>
            <a:endParaRPr lang="en-IN" dirty="0"/>
          </a:p>
        </p:txBody>
      </p:sp>
      <p:sp>
        <p:nvSpPr>
          <p:cNvPr id="3" name="TextBox 2">
            <a:extLst>
              <a:ext uri="{FF2B5EF4-FFF2-40B4-BE49-F238E27FC236}">
                <a16:creationId xmlns:a16="http://schemas.microsoft.com/office/drawing/2014/main" id="{4E11AE9E-2711-8842-7D32-8E77AFB49B7D}"/>
              </a:ext>
            </a:extLst>
          </p:cNvPr>
          <p:cNvSpPr txBox="1"/>
          <p:nvPr/>
        </p:nvSpPr>
        <p:spPr>
          <a:xfrm>
            <a:off x="2298583" y="5657671"/>
            <a:ext cx="9127222" cy="1200329"/>
          </a:xfrm>
          <a:prstGeom prst="rect">
            <a:avLst/>
          </a:prstGeom>
          <a:noFill/>
        </p:spPr>
        <p:txBody>
          <a:bodyPr wrap="square" rtlCol="0">
            <a:spAutoFit/>
          </a:bodyPr>
          <a:lstStyle/>
          <a:p>
            <a:r>
              <a:rPr lang="en-US" b="1" dirty="0"/>
              <a:t>Insight</a:t>
            </a:r>
            <a:r>
              <a:rPr lang="en-US" dirty="0"/>
              <a:t>: These plots provide a general overview of the demographic composition of the workforce, such as the age distribution (most employees are in their late 20s to early 40s), gender balance, and department sizes.</a:t>
            </a:r>
          </a:p>
          <a:p>
            <a:endParaRPr lang="en-IN" dirty="0"/>
          </a:p>
        </p:txBody>
      </p:sp>
      <p:pic>
        <p:nvPicPr>
          <p:cNvPr id="4" name="Picture 3">
            <a:extLst>
              <a:ext uri="{FF2B5EF4-FFF2-40B4-BE49-F238E27FC236}">
                <a16:creationId xmlns:a16="http://schemas.microsoft.com/office/drawing/2014/main" id="{E9CE5E23-B15E-9036-F04F-699F5A6914A9}"/>
              </a:ext>
            </a:extLst>
          </p:cNvPr>
          <p:cNvPicPr>
            <a:picLocks noChangeAspect="1"/>
          </p:cNvPicPr>
          <p:nvPr/>
        </p:nvPicPr>
        <p:blipFill>
          <a:blip r:embed="rId2"/>
          <a:stretch>
            <a:fillRect/>
          </a:stretch>
        </p:blipFill>
        <p:spPr>
          <a:xfrm>
            <a:off x="1610686" y="100668"/>
            <a:ext cx="9882231" cy="3126955"/>
          </a:xfrm>
          <a:prstGeom prst="rect">
            <a:avLst/>
          </a:prstGeom>
        </p:spPr>
      </p:pic>
    </p:spTree>
    <p:extLst>
      <p:ext uri="{BB962C8B-B14F-4D97-AF65-F5344CB8AC3E}">
        <p14:creationId xmlns:p14="http://schemas.microsoft.com/office/powerpoint/2010/main" val="3922261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F9044D-4963-F357-C3EC-25A4822FD693}"/>
              </a:ext>
            </a:extLst>
          </p:cNvPr>
          <p:cNvSpPr txBox="1"/>
          <p:nvPr/>
        </p:nvSpPr>
        <p:spPr>
          <a:xfrm>
            <a:off x="2206305" y="3701971"/>
            <a:ext cx="9555060" cy="2862322"/>
          </a:xfrm>
          <a:prstGeom prst="rect">
            <a:avLst/>
          </a:prstGeom>
          <a:noFill/>
        </p:spPr>
        <p:txBody>
          <a:bodyPr wrap="square" rtlCol="0">
            <a:spAutoFit/>
          </a:bodyPr>
          <a:lstStyle/>
          <a:p>
            <a:r>
              <a:rPr lang="en-US" b="1" dirty="0"/>
              <a:t>Attrition by Age and Gender</a:t>
            </a:r>
            <a:r>
              <a:rPr lang="en-US" dirty="0"/>
              <a:t> </a:t>
            </a:r>
            <a:r>
              <a:rPr lang="en-US" b="1" dirty="0"/>
              <a:t>Description</a:t>
            </a:r>
            <a:r>
              <a:rPr lang="en-US" dirty="0"/>
              <a:t>: This figure contains two subplots:</a:t>
            </a:r>
          </a:p>
          <a:p>
            <a:pPr lvl="2"/>
            <a:r>
              <a:rPr lang="en-US" b="1" dirty="0"/>
              <a:t>Attrition by Age (KDE Plot)</a:t>
            </a:r>
            <a:r>
              <a:rPr lang="en-US" dirty="0"/>
              <a:t>: A Kernel Density Estimate (KDE) plot showing the distribution of age specifically for employees who have </a:t>
            </a:r>
            <a:r>
              <a:rPr lang="en-US" dirty="0" err="1"/>
              <a:t>attrited</a:t>
            </a:r>
            <a:r>
              <a:rPr lang="en-US" dirty="0"/>
              <a:t>.</a:t>
            </a:r>
          </a:p>
          <a:p>
            <a:pPr lvl="2"/>
            <a:r>
              <a:rPr lang="en-US" b="1" dirty="0"/>
              <a:t>Attrition Rate by Gender (Bar Plot)</a:t>
            </a:r>
            <a:r>
              <a:rPr lang="en-US" dirty="0"/>
              <a:t>: A bar plot showing the percentage of attrition for male and female employees.</a:t>
            </a:r>
          </a:p>
          <a:p>
            <a:pPr lvl="1"/>
            <a:r>
              <a:rPr lang="en-US" b="1" dirty="0"/>
              <a:t>Insight</a:t>
            </a:r>
            <a:r>
              <a:rPr lang="en-US" dirty="0"/>
              <a:t>: The KDE plot for age suggests that younger employees, particularly those in their late 20s and early 30s, have a higher density of attrition. The gender bar plot indicates that attrition rates are quite similar between male and female employees, suggesting gender is not a primary differentiator for attrition.</a:t>
            </a:r>
          </a:p>
          <a:p>
            <a:endParaRPr lang="en-IN" dirty="0"/>
          </a:p>
        </p:txBody>
      </p:sp>
      <p:pic>
        <p:nvPicPr>
          <p:cNvPr id="3" name="Picture 2">
            <a:extLst>
              <a:ext uri="{FF2B5EF4-FFF2-40B4-BE49-F238E27FC236}">
                <a16:creationId xmlns:a16="http://schemas.microsoft.com/office/drawing/2014/main" id="{B62D5624-BD2B-5A65-9F08-99BB2BF063F5}"/>
              </a:ext>
            </a:extLst>
          </p:cNvPr>
          <p:cNvPicPr>
            <a:picLocks noChangeAspect="1"/>
          </p:cNvPicPr>
          <p:nvPr/>
        </p:nvPicPr>
        <p:blipFill>
          <a:blip r:embed="rId2"/>
          <a:stretch>
            <a:fillRect/>
          </a:stretch>
        </p:blipFill>
        <p:spPr>
          <a:xfrm>
            <a:off x="2516696" y="536975"/>
            <a:ext cx="7611611" cy="3013994"/>
          </a:xfrm>
          <a:prstGeom prst="rect">
            <a:avLst/>
          </a:prstGeom>
        </p:spPr>
      </p:pic>
    </p:spTree>
    <p:extLst>
      <p:ext uri="{BB962C8B-B14F-4D97-AF65-F5344CB8AC3E}">
        <p14:creationId xmlns:p14="http://schemas.microsoft.com/office/powerpoint/2010/main" val="3065793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AED71F-7B6C-F353-1F53-A2D46CA98566}"/>
              </a:ext>
            </a:extLst>
          </p:cNvPr>
          <p:cNvPicPr>
            <a:picLocks noChangeAspect="1"/>
          </p:cNvPicPr>
          <p:nvPr/>
        </p:nvPicPr>
        <p:blipFill>
          <a:blip r:embed="rId2"/>
          <a:stretch>
            <a:fillRect/>
          </a:stretch>
        </p:blipFill>
        <p:spPr>
          <a:xfrm>
            <a:off x="2181137" y="520119"/>
            <a:ext cx="9311779" cy="5940556"/>
          </a:xfrm>
          <a:prstGeom prst="rect">
            <a:avLst/>
          </a:prstGeom>
        </p:spPr>
      </p:pic>
    </p:spTree>
    <p:extLst>
      <p:ext uri="{BB962C8B-B14F-4D97-AF65-F5344CB8AC3E}">
        <p14:creationId xmlns:p14="http://schemas.microsoft.com/office/powerpoint/2010/main" val="3416800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766DE0-5474-5ACF-DD80-BD1F549BA0B7}"/>
              </a:ext>
            </a:extLst>
          </p:cNvPr>
          <p:cNvSpPr txBox="1"/>
          <p:nvPr/>
        </p:nvSpPr>
        <p:spPr>
          <a:xfrm>
            <a:off x="1652633" y="1979802"/>
            <a:ext cx="9857064" cy="3139321"/>
          </a:xfrm>
          <a:prstGeom prst="rect">
            <a:avLst/>
          </a:prstGeom>
          <a:noFill/>
        </p:spPr>
        <p:txBody>
          <a:bodyPr wrap="square" rtlCol="0">
            <a:spAutoFit/>
          </a:bodyPr>
          <a:lstStyle/>
          <a:p>
            <a:r>
              <a:rPr lang="en-US" b="1" dirty="0"/>
              <a:t>Attrition Rate by Categorical Features (Group 1)</a:t>
            </a:r>
            <a:r>
              <a:rPr lang="en-US" dirty="0"/>
              <a:t> </a:t>
            </a:r>
            <a:r>
              <a:rPr lang="en-US" b="1" dirty="0"/>
              <a:t>Description</a:t>
            </a:r>
            <a:r>
              <a:rPr lang="en-US" dirty="0"/>
              <a:t>: This figure contains four bar plots, each showing the attrition rate (percentage) for different categories within:</a:t>
            </a:r>
          </a:p>
          <a:p>
            <a:pPr lvl="2"/>
            <a:r>
              <a:rPr lang="en-US" b="1" dirty="0"/>
              <a:t>Business Travel</a:t>
            </a:r>
            <a:endParaRPr lang="en-US" dirty="0"/>
          </a:p>
          <a:p>
            <a:pPr lvl="2"/>
            <a:r>
              <a:rPr lang="en-US" b="1" dirty="0"/>
              <a:t>Department</a:t>
            </a:r>
            <a:endParaRPr lang="en-US" dirty="0"/>
          </a:p>
          <a:p>
            <a:pPr lvl="2"/>
            <a:r>
              <a:rPr lang="en-US" b="1" dirty="0"/>
              <a:t>Job Role</a:t>
            </a:r>
            <a:endParaRPr lang="en-US" dirty="0"/>
          </a:p>
          <a:p>
            <a:pPr lvl="2"/>
            <a:r>
              <a:rPr lang="en-US" b="1" dirty="0"/>
              <a:t>Education Field</a:t>
            </a:r>
            <a:endParaRPr lang="en-US" dirty="0"/>
          </a:p>
          <a:p>
            <a:pPr lvl="1"/>
            <a:r>
              <a:rPr lang="en-US" b="1" dirty="0"/>
              <a:t>Insight</a:t>
            </a:r>
            <a:r>
              <a:rPr lang="en-US" dirty="0"/>
              <a:t>: These plots help identify specific categories within these features that have significantly higher attrition rates. For example, 'Travel Frequently' shows a much higher attrition rate than 'Travel Rarely' or 'Non-Travel'. 'Sales' and 'Human Resources' departments, and 'Sales Representative' and 'Laboratory Technician' job roles, also show elevated attrition.</a:t>
            </a:r>
          </a:p>
          <a:p>
            <a:endParaRPr lang="en-IN" dirty="0"/>
          </a:p>
        </p:txBody>
      </p:sp>
    </p:spTree>
    <p:extLst>
      <p:ext uri="{BB962C8B-B14F-4D97-AF65-F5344CB8AC3E}">
        <p14:creationId xmlns:p14="http://schemas.microsoft.com/office/powerpoint/2010/main" val="4156777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A3EC40-08A5-12B6-5E5C-0B9026E0A883}"/>
              </a:ext>
            </a:extLst>
          </p:cNvPr>
          <p:cNvPicPr>
            <a:picLocks noChangeAspect="1"/>
          </p:cNvPicPr>
          <p:nvPr/>
        </p:nvPicPr>
        <p:blipFill>
          <a:blip r:embed="rId2"/>
          <a:stretch>
            <a:fillRect/>
          </a:stretch>
        </p:blipFill>
        <p:spPr>
          <a:xfrm>
            <a:off x="2374085" y="367018"/>
            <a:ext cx="9395669" cy="6123964"/>
          </a:xfrm>
          <a:prstGeom prst="rect">
            <a:avLst/>
          </a:prstGeom>
        </p:spPr>
      </p:pic>
    </p:spTree>
    <p:extLst>
      <p:ext uri="{BB962C8B-B14F-4D97-AF65-F5344CB8AC3E}">
        <p14:creationId xmlns:p14="http://schemas.microsoft.com/office/powerpoint/2010/main" val="1251994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FB8DA7-1F77-82C8-6FF9-F34399732FB5}"/>
              </a:ext>
            </a:extLst>
          </p:cNvPr>
          <p:cNvSpPr txBox="1"/>
          <p:nvPr/>
        </p:nvSpPr>
        <p:spPr>
          <a:xfrm>
            <a:off x="1895911" y="1988191"/>
            <a:ext cx="9966121" cy="2862322"/>
          </a:xfrm>
          <a:prstGeom prst="rect">
            <a:avLst/>
          </a:prstGeom>
          <a:noFill/>
        </p:spPr>
        <p:txBody>
          <a:bodyPr wrap="square" rtlCol="0">
            <a:spAutoFit/>
          </a:bodyPr>
          <a:lstStyle/>
          <a:p>
            <a:r>
              <a:rPr lang="en-US" b="1" dirty="0"/>
              <a:t>Attrition Rate by Categorical Features (Group 2)</a:t>
            </a:r>
            <a:r>
              <a:rPr lang="en-US" dirty="0"/>
              <a:t> </a:t>
            </a:r>
            <a:r>
              <a:rPr lang="en-US" b="1" dirty="0"/>
              <a:t>Description</a:t>
            </a:r>
            <a:r>
              <a:rPr lang="en-US" dirty="0"/>
              <a:t>: This figure contains four bar plots, similar to the previous set, showing the attrition rate for different categories within:</a:t>
            </a:r>
          </a:p>
          <a:p>
            <a:pPr lvl="2"/>
            <a:r>
              <a:rPr lang="en-US" b="1" dirty="0"/>
              <a:t>Marital Status</a:t>
            </a:r>
            <a:endParaRPr lang="en-US" dirty="0"/>
          </a:p>
          <a:p>
            <a:pPr lvl="2"/>
            <a:r>
              <a:rPr lang="en-US" b="1" dirty="0"/>
              <a:t>Job Level</a:t>
            </a:r>
            <a:endParaRPr lang="en-US" dirty="0"/>
          </a:p>
          <a:p>
            <a:pPr lvl="2"/>
            <a:r>
              <a:rPr lang="en-US" b="1" dirty="0"/>
              <a:t>Work Life Balance</a:t>
            </a:r>
            <a:endParaRPr lang="en-US" dirty="0"/>
          </a:p>
          <a:p>
            <a:pPr lvl="2"/>
            <a:r>
              <a:rPr lang="en-US" b="1" dirty="0"/>
              <a:t>Stock Option Level</a:t>
            </a:r>
            <a:endParaRPr lang="en-US" dirty="0"/>
          </a:p>
          <a:p>
            <a:pPr lvl="1"/>
            <a:r>
              <a:rPr lang="en-US" b="1" dirty="0"/>
              <a:t>Insight</a:t>
            </a:r>
            <a:r>
              <a:rPr lang="en-US" dirty="0"/>
              <a:t>: These plots highlight that 'Single' employees have a higher attrition rate. Lower '</a:t>
            </a:r>
            <a:r>
              <a:rPr lang="en-US" dirty="0" err="1"/>
              <a:t>JobLevel</a:t>
            </a:r>
            <a:r>
              <a:rPr lang="en-US" dirty="0"/>
              <a:t>' values (1 and 2) correspond to higher attrition. Employees with a '</a:t>
            </a:r>
            <a:r>
              <a:rPr lang="en-US" dirty="0" err="1"/>
              <a:t>WorkLifeBalance</a:t>
            </a:r>
            <a:r>
              <a:rPr lang="en-US" dirty="0"/>
              <a:t>' of 1 (Bad) and 'Stock Option Level' of 0 also show higher attrition rates.</a:t>
            </a:r>
          </a:p>
          <a:p>
            <a:endParaRPr lang="en-IN" dirty="0"/>
          </a:p>
        </p:txBody>
      </p:sp>
    </p:spTree>
    <p:extLst>
      <p:ext uri="{BB962C8B-B14F-4D97-AF65-F5344CB8AC3E}">
        <p14:creationId xmlns:p14="http://schemas.microsoft.com/office/powerpoint/2010/main" val="3747578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B5037524-5080-13D9-41DE-A55B8081D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0194" y="248506"/>
            <a:ext cx="9295002" cy="6360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179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2C4CFD-6988-7F0A-8607-2382B1E4631A}"/>
              </a:ext>
            </a:extLst>
          </p:cNvPr>
          <p:cNvSpPr txBox="1"/>
          <p:nvPr/>
        </p:nvSpPr>
        <p:spPr>
          <a:xfrm>
            <a:off x="1577130" y="1652631"/>
            <a:ext cx="9865453" cy="3416320"/>
          </a:xfrm>
          <a:prstGeom prst="rect">
            <a:avLst/>
          </a:prstGeom>
          <a:noFill/>
        </p:spPr>
        <p:txBody>
          <a:bodyPr wrap="square" rtlCol="0">
            <a:spAutoFit/>
          </a:bodyPr>
          <a:lstStyle/>
          <a:p>
            <a:r>
              <a:rPr lang="en-US" b="1" dirty="0"/>
              <a:t>Distribution of Numerical Features by Attrition</a:t>
            </a:r>
            <a:r>
              <a:rPr lang="en-US" dirty="0"/>
              <a:t> </a:t>
            </a:r>
            <a:r>
              <a:rPr lang="en-US" b="1" dirty="0"/>
              <a:t>Description</a:t>
            </a:r>
            <a:r>
              <a:rPr lang="en-US" dirty="0"/>
              <a:t>: This figure contains four KDE plots, showing the distribution of:</a:t>
            </a:r>
          </a:p>
          <a:p>
            <a:pPr lvl="2"/>
            <a:r>
              <a:rPr lang="en-US" b="1" dirty="0"/>
              <a:t>Monthly Income</a:t>
            </a:r>
            <a:endParaRPr lang="en-US" dirty="0"/>
          </a:p>
          <a:p>
            <a:pPr lvl="2"/>
            <a:r>
              <a:rPr lang="en-US" b="1" dirty="0"/>
              <a:t>Daily Rate</a:t>
            </a:r>
            <a:endParaRPr lang="en-US" dirty="0"/>
          </a:p>
          <a:p>
            <a:pPr lvl="2"/>
            <a:r>
              <a:rPr lang="en-US" b="1" dirty="0"/>
              <a:t>Total Working Years</a:t>
            </a:r>
            <a:endParaRPr lang="en-US" dirty="0"/>
          </a:p>
          <a:p>
            <a:pPr lvl="2"/>
            <a:r>
              <a:rPr lang="en-US" b="1" dirty="0"/>
              <a:t>Years At Company</a:t>
            </a:r>
            <a:r>
              <a:rPr lang="en-US" dirty="0"/>
              <a:t> Each plot differentiates between employees who </a:t>
            </a:r>
            <a:r>
              <a:rPr lang="en-US" dirty="0" err="1"/>
              <a:t>attrited</a:t>
            </a:r>
            <a:r>
              <a:rPr lang="en-US" dirty="0"/>
              <a:t> ('Yes') and those who did not ('No').</a:t>
            </a:r>
          </a:p>
          <a:p>
            <a:pPr lvl="1"/>
            <a:r>
              <a:rPr lang="en-US" b="1" dirty="0"/>
              <a:t>Insight</a:t>
            </a:r>
            <a:r>
              <a:rPr lang="en-US" dirty="0"/>
              <a:t>: These plots help visualize how the distribution of these numerical features differs between the </a:t>
            </a:r>
            <a:r>
              <a:rPr lang="en-US" dirty="0" err="1"/>
              <a:t>attrited</a:t>
            </a:r>
            <a:r>
              <a:rPr lang="en-US" dirty="0"/>
              <a:t> and non-</a:t>
            </a:r>
            <a:r>
              <a:rPr lang="en-US" dirty="0" err="1"/>
              <a:t>attrited</a:t>
            </a:r>
            <a:r>
              <a:rPr lang="en-US" dirty="0"/>
              <a:t> groups. For instance, employees with lower '</a:t>
            </a:r>
            <a:r>
              <a:rPr lang="en-US" dirty="0" err="1"/>
              <a:t>MonthlyIncome</a:t>
            </a:r>
            <a:r>
              <a:rPr lang="en-US" dirty="0"/>
              <a:t>', '</a:t>
            </a:r>
            <a:r>
              <a:rPr lang="en-US" dirty="0" err="1"/>
              <a:t>DailyRate</a:t>
            </a:r>
            <a:r>
              <a:rPr lang="en-US" dirty="0"/>
              <a:t>', '</a:t>
            </a:r>
            <a:r>
              <a:rPr lang="en-US" dirty="0" err="1"/>
              <a:t>TotalWorkingYears</a:t>
            </a:r>
            <a:r>
              <a:rPr lang="en-US" dirty="0"/>
              <a:t>', and '</a:t>
            </a:r>
            <a:r>
              <a:rPr lang="en-US" dirty="0" err="1"/>
              <a:t>YearsAtCompany</a:t>
            </a:r>
            <a:r>
              <a:rPr lang="en-US" dirty="0"/>
              <a:t>' tend to have a higher density in the 'Yes' attrition category, suggesting these factors are associated with higher attrition risk.</a:t>
            </a:r>
          </a:p>
        </p:txBody>
      </p:sp>
    </p:spTree>
    <p:extLst>
      <p:ext uri="{BB962C8B-B14F-4D97-AF65-F5344CB8AC3E}">
        <p14:creationId xmlns:p14="http://schemas.microsoft.com/office/powerpoint/2010/main" val="2426109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BC4E0E-BE53-418A-83D7-4ABFB94E2618}"/>
              </a:ext>
            </a:extLst>
          </p:cNvPr>
          <p:cNvSpPr txBox="1"/>
          <p:nvPr/>
        </p:nvSpPr>
        <p:spPr>
          <a:xfrm>
            <a:off x="2248250" y="4001549"/>
            <a:ext cx="9269834" cy="2585323"/>
          </a:xfrm>
          <a:prstGeom prst="rect">
            <a:avLst/>
          </a:prstGeom>
          <a:noFill/>
        </p:spPr>
        <p:txBody>
          <a:bodyPr wrap="square" rtlCol="0">
            <a:spAutoFit/>
          </a:bodyPr>
          <a:lstStyle/>
          <a:p>
            <a:r>
              <a:rPr lang="en-US" b="1" dirty="0"/>
              <a:t>Logistic Regression Confusion Matrix</a:t>
            </a:r>
            <a:r>
              <a:rPr lang="en-US" dirty="0"/>
              <a:t> </a:t>
            </a:r>
            <a:r>
              <a:rPr lang="en-US" b="1" dirty="0"/>
              <a:t>Description</a:t>
            </a:r>
            <a:r>
              <a:rPr lang="en-US" dirty="0"/>
              <a:t>: A heatmap showing the performance of the Logistic Regression model in classifying attrition. It displays True Positives (correctly predicted attrition), True Negatives (correctly predicted no attrition), False Positives (incorrectly predicted attrition), and False Negatives (incorrectly predicted no attrition).</a:t>
            </a:r>
          </a:p>
          <a:p>
            <a:pPr lvl="1"/>
            <a:endParaRPr lang="en-US" b="1" dirty="0"/>
          </a:p>
          <a:p>
            <a:pPr lvl="1"/>
            <a:r>
              <a:rPr lang="en-US" b="1" dirty="0"/>
              <a:t>Insight</a:t>
            </a:r>
            <a:r>
              <a:rPr lang="en-US" dirty="0"/>
              <a:t>: This matrix visually confirms the model's performance metrics, particularly highlighting the challenge with recall for the 'Attrition (Yes)' class, as indicated by a relatively high number of False Negatives (actual attrition, but predicted no attrition).</a:t>
            </a:r>
          </a:p>
          <a:p>
            <a:endParaRPr lang="en-IN" dirty="0"/>
          </a:p>
        </p:txBody>
      </p:sp>
      <p:pic>
        <p:nvPicPr>
          <p:cNvPr id="3" name="Picture 2">
            <a:extLst>
              <a:ext uri="{FF2B5EF4-FFF2-40B4-BE49-F238E27FC236}">
                <a16:creationId xmlns:a16="http://schemas.microsoft.com/office/drawing/2014/main" id="{C8158113-124A-C2B6-D949-4C70CA1D1561}"/>
              </a:ext>
            </a:extLst>
          </p:cNvPr>
          <p:cNvPicPr>
            <a:picLocks noChangeAspect="1"/>
          </p:cNvPicPr>
          <p:nvPr/>
        </p:nvPicPr>
        <p:blipFill>
          <a:blip r:embed="rId2"/>
          <a:stretch>
            <a:fillRect/>
          </a:stretch>
        </p:blipFill>
        <p:spPr>
          <a:xfrm>
            <a:off x="3852148" y="245073"/>
            <a:ext cx="4822068" cy="3756476"/>
          </a:xfrm>
          <a:prstGeom prst="rect">
            <a:avLst/>
          </a:prstGeom>
        </p:spPr>
      </p:pic>
    </p:spTree>
    <p:extLst>
      <p:ext uri="{BB962C8B-B14F-4D97-AF65-F5344CB8AC3E}">
        <p14:creationId xmlns:p14="http://schemas.microsoft.com/office/powerpoint/2010/main" val="3174083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FB70D4-2F55-1EC5-224C-DF4C7385A3D1}"/>
              </a:ext>
            </a:extLst>
          </p:cNvPr>
          <p:cNvSpPr txBox="1"/>
          <p:nvPr/>
        </p:nvSpPr>
        <p:spPr>
          <a:xfrm>
            <a:off x="2457974" y="4272677"/>
            <a:ext cx="9076888" cy="2585323"/>
          </a:xfrm>
          <a:prstGeom prst="rect">
            <a:avLst/>
          </a:prstGeom>
          <a:noFill/>
        </p:spPr>
        <p:txBody>
          <a:bodyPr wrap="square" rtlCol="0">
            <a:spAutoFit/>
          </a:bodyPr>
          <a:lstStyle/>
          <a:p>
            <a:r>
              <a:rPr lang="en-US" b="1" dirty="0"/>
              <a:t>Top 10 Feature Importances from Logistic Regression</a:t>
            </a:r>
            <a:r>
              <a:rPr lang="en-US" dirty="0"/>
              <a:t> (from cell 30911d79):</a:t>
            </a:r>
          </a:p>
          <a:p>
            <a:pPr lvl="1"/>
            <a:r>
              <a:rPr lang="en-US" b="1" dirty="0"/>
              <a:t>Description</a:t>
            </a:r>
            <a:r>
              <a:rPr lang="en-US" dirty="0"/>
              <a:t>: A bar plot displaying the top 10 features that had the largest absolute coefficient values in the trained Logistic Regression model. The coefficient values indicate the strength and direction of the relationship between the feature and the log-odds of attrition.</a:t>
            </a:r>
          </a:p>
          <a:p>
            <a:pPr lvl="1"/>
            <a:r>
              <a:rPr lang="en-US" b="1" dirty="0"/>
              <a:t>Insight</a:t>
            </a:r>
            <a:r>
              <a:rPr lang="en-US" dirty="0"/>
              <a:t>: This plot identifies the features that the Logistic Regression model considered most influential in predicting attrition, such as '</a:t>
            </a:r>
            <a:r>
              <a:rPr lang="en-US" dirty="0" err="1"/>
              <a:t>OverTime_Yes</a:t>
            </a:r>
            <a:r>
              <a:rPr lang="en-US" dirty="0"/>
              <a:t>', '</a:t>
            </a:r>
            <a:r>
              <a:rPr lang="en-US" dirty="0" err="1"/>
              <a:t>JobRole_Sales</a:t>
            </a:r>
            <a:r>
              <a:rPr lang="en-US" dirty="0"/>
              <a:t> Representative', and '</a:t>
            </a:r>
            <a:r>
              <a:rPr lang="en-US" dirty="0" err="1"/>
              <a:t>MaritalStatus_Single</a:t>
            </a:r>
            <a:r>
              <a:rPr lang="en-US" dirty="0"/>
              <a:t>'.</a:t>
            </a:r>
          </a:p>
          <a:p>
            <a:endParaRPr lang="en-IN" dirty="0"/>
          </a:p>
        </p:txBody>
      </p:sp>
      <p:pic>
        <p:nvPicPr>
          <p:cNvPr id="5122" name="Picture 2">
            <a:extLst>
              <a:ext uri="{FF2B5EF4-FFF2-40B4-BE49-F238E27FC236}">
                <a16:creationId xmlns:a16="http://schemas.microsoft.com/office/drawing/2014/main" id="{A6AAFAF1-2F95-6820-332C-4A4DED2E32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8367" y="111881"/>
            <a:ext cx="7169835" cy="4160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71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C42036-9B98-491C-EC66-6D0048301D6A}"/>
              </a:ext>
            </a:extLst>
          </p:cNvPr>
          <p:cNvSpPr txBox="1"/>
          <p:nvPr/>
        </p:nvSpPr>
        <p:spPr>
          <a:xfrm>
            <a:off x="2667699" y="4437776"/>
            <a:ext cx="7944374" cy="2585323"/>
          </a:xfrm>
          <a:prstGeom prst="rect">
            <a:avLst/>
          </a:prstGeom>
          <a:noFill/>
        </p:spPr>
        <p:txBody>
          <a:bodyPr wrap="square" rtlCol="0">
            <a:spAutoFit/>
          </a:bodyPr>
          <a:lstStyle/>
          <a:p>
            <a:r>
              <a:rPr lang="en-US" b="1" dirty="0"/>
              <a:t>Random Forest Classifier Confusion Matrix Description</a:t>
            </a:r>
            <a:r>
              <a:rPr lang="en-US" dirty="0"/>
              <a:t>: A heatmap similar to the Logistic Regression confusion matrix, but for the </a:t>
            </a:r>
            <a:r>
              <a:rPr lang="en-US" dirty="0" err="1"/>
              <a:t>RandomForestClassifier</a:t>
            </a:r>
            <a:r>
              <a:rPr lang="en-US" dirty="0"/>
              <a:t> model. It shows its performance in terms of True Positives, True Negatives, False Positives, and False Negatives.</a:t>
            </a:r>
          </a:p>
          <a:p>
            <a:pPr lvl="1"/>
            <a:r>
              <a:rPr lang="en-US" b="1" dirty="0"/>
              <a:t>Insight</a:t>
            </a:r>
            <a:r>
              <a:rPr lang="en-US" dirty="0"/>
              <a:t>: This matrix, again, reveals the model's strengths and weaknesses, specifically showing that while the Random Forest has high precision for the 'Attrition (Yes)' class, its recall is still quite low, meaning it misses many actual attrition cases.</a:t>
            </a:r>
          </a:p>
          <a:p>
            <a:endParaRPr lang="en-IN" dirty="0"/>
          </a:p>
        </p:txBody>
      </p:sp>
      <p:pic>
        <p:nvPicPr>
          <p:cNvPr id="6148" name="Picture 4">
            <a:extLst>
              <a:ext uri="{FF2B5EF4-FFF2-40B4-BE49-F238E27FC236}">
                <a16:creationId xmlns:a16="http://schemas.microsoft.com/office/drawing/2014/main" id="{2EEEF313-1C91-50E8-ECB7-1E1D782FE3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698" y="336455"/>
            <a:ext cx="6325299" cy="4167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910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50381E-837A-8184-AC3A-BA2F20CEA094}"/>
              </a:ext>
            </a:extLst>
          </p:cNvPr>
          <p:cNvSpPr txBox="1"/>
          <p:nvPr/>
        </p:nvSpPr>
        <p:spPr>
          <a:xfrm>
            <a:off x="2516698" y="4177717"/>
            <a:ext cx="8892330" cy="2308324"/>
          </a:xfrm>
          <a:prstGeom prst="rect">
            <a:avLst/>
          </a:prstGeom>
          <a:noFill/>
        </p:spPr>
        <p:txBody>
          <a:bodyPr wrap="square" rtlCol="0">
            <a:spAutoFit/>
          </a:bodyPr>
          <a:lstStyle/>
          <a:p>
            <a:r>
              <a:rPr lang="en-US" b="1" dirty="0"/>
              <a:t>Top 10 Feature Importances from </a:t>
            </a:r>
            <a:r>
              <a:rPr lang="en-US" b="1" dirty="0" err="1"/>
              <a:t>RandomForestClassifier</a:t>
            </a:r>
            <a:r>
              <a:rPr lang="en-US" dirty="0"/>
              <a:t> </a:t>
            </a:r>
            <a:r>
              <a:rPr lang="en-US" b="1" dirty="0"/>
              <a:t>Description</a:t>
            </a:r>
            <a:r>
              <a:rPr lang="en-US" dirty="0"/>
              <a:t>: </a:t>
            </a:r>
          </a:p>
          <a:p>
            <a:r>
              <a:rPr lang="en-US" dirty="0"/>
              <a:t>A bar plot displaying the top 10 features that the </a:t>
            </a:r>
            <a:r>
              <a:rPr lang="en-US" dirty="0" err="1"/>
              <a:t>RandomForestClassifier</a:t>
            </a:r>
            <a:r>
              <a:rPr lang="en-US" dirty="0"/>
              <a:t> model deemed most important for predicting attrition, based on its internal feature importance scores (e.g., Gini importance).</a:t>
            </a:r>
          </a:p>
          <a:p>
            <a:pPr lvl="1"/>
            <a:r>
              <a:rPr lang="en-US" b="1" dirty="0"/>
              <a:t>Insight</a:t>
            </a:r>
            <a:r>
              <a:rPr lang="en-US" dirty="0"/>
              <a:t>: This plot provides a different perspective on feature importance compared to Logistic Regression. It highlights features like '</a:t>
            </a:r>
            <a:r>
              <a:rPr lang="en-US" dirty="0" err="1"/>
              <a:t>MonthlyIncome</a:t>
            </a:r>
            <a:r>
              <a:rPr lang="en-US" dirty="0"/>
              <a:t>', 'Age', '</a:t>
            </a:r>
            <a:r>
              <a:rPr lang="en-US" dirty="0" err="1"/>
              <a:t>TotalWorkingYears</a:t>
            </a:r>
            <a:r>
              <a:rPr lang="en-US" dirty="0"/>
              <a:t>', and '</a:t>
            </a:r>
            <a:r>
              <a:rPr lang="en-US" dirty="0" err="1"/>
              <a:t>DailyRate</a:t>
            </a:r>
            <a:r>
              <a:rPr lang="en-US" dirty="0"/>
              <a:t>' as particularly influential for the Random Forest model.</a:t>
            </a:r>
          </a:p>
        </p:txBody>
      </p:sp>
      <p:pic>
        <p:nvPicPr>
          <p:cNvPr id="3" name="Picture 2">
            <a:extLst>
              <a:ext uri="{FF2B5EF4-FFF2-40B4-BE49-F238E27FC236}">
                <a16:creationId xmlns:a16="http://schemas.microsoft.com/office/drawing/2014/main" id="{DED9CF65-9352-FCFD-11E0-E0C97220B4F0}"/>
              </a:ext>
            </a:extLst>
          </p:cNvPr>
          <p:cNvPicPr>
            <a:picLocks noChangeAspect="1"/>
          </p:cNvPicPr>
          <p:nvPr/>
        </p:nvPicPr>
        <p:blipFill>
          <a:blip r:embed="rId2"/>
          <a:stretch>
            <a:fillRect/>
          </a:stretch>
        </p:blipFill>
        <p:spPr>
          <a:xfrm>
            <a:off x="1753299" y="142875"/>
            <a:ext cx="10005313" cy="3991549"/>
          </a:xfrm>
          <a:prstGeom prst="rect">
            <a:avLst/>
          </a:prstGeom>
        </p:spPr>
      </p:pic>
    </p:spTree>
    <p:extLst>
      <p:ext uri="{BB962C8B-B14F-4D97-AF65-F5344CB8AC3E}">
        <p14:creationId xmlns:p14="http://schemas.microsoft.com/office/powerpoint/2010/main" val="1527677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2E2C4F-A836-A863-A49C-FAEFE459486B}"/>
              </a:ext>
            </a:extLst>
          </p:cNvPr>
          <p:cNvSpPr txBox="1"/>
          <p:nvPr/>
        </p:nvSpPr>
        <p:spPr>
          <a:xfrm>
            <a:off x="2986481" y="4781725"/>
            <a:ext cx="8279934" cy="2308324"/>
          </a:xfrm>
          <a:prstGeom prst="rect">
            <a:avLst/>
          </a:prstGeom>
          <a:noFill/>
        </p:spPr>
        <p:txBody>
          <a:bodyPr wrap="square" rtlCol="0">
            <a:spAutoFit/>
          </a:bodyPr>
          <a:lstStyle/>
          <a:p>
            <a:r>
              <a:rPr lang="en-US" b="1" dirty="0"/>
              <a:t>Decision Tree from Random Forest Description</a:t>
            </a:r>
            <a:r>
              <a:rPr lang="en-US" dirty="0"/>
              <a:t>:</a:t>
            </a:r>
          </a:p>
          <a:p>
            <a:r>
              <a:rPr lang="en-US" dirty="0"/>
              <a:t> A visualization of a single decision tree extracted from the trained Random Forest model. </a:t>
            </a:r>
            <a:r>
              <a:rPr lang="en-US"/>
              <a:t>The </a:t>
            </a:r>
            <a:r>
              <a:rPr lang="en-US" dirty="0" err="1"/>
              <a:t>max_depth</a:t>
            </a:r>
            <a:r>
              <a:rPr lang="en-US" dirty="0"/>
              <a:t> was limited to 3 for readability.</a:t>
            </a:r>
          </a:p>
          <a:p>
            <a:pPr lvl="1"/>
            <a:r>
              <a:rPr lang="en-US" b="1" dirty="0"/>
              <a:t>Insight</a:t>
            </a:r>
            <a:r>
              <a:rPr lang="en-US" dirty="0"/>
              <a:t>: This plot helps in understanding the decision-making logic of one of the individual trees within the Random Forest. It shows how the tree splits data based on feature values to classify employees as likely to attrite or not, providing a glimpse into the model's internal workings.</a:t>
            </a:r>
          </a:p>
          <a:p>
            <a:endParaRPr lang="en-IN" dirty="0"/>
          </a:p>
        </p:txBody>
      </p:sp>
      <p:pic>
        <p:nvPicPr>
          <p:cNvPr id="4" name="Picture 3">
            <a:extLst>
              <a:ext uri="{FF2B5EF4-FFF2-40B4-BE49-F238E27FC236}">
                <a16:creationId xmlns:a16="http://schemas.microsoft.com/office/drawing/2014/main" id="{7C04D048-3802-FE99-C05A-736B79B28F47}"/>
              </a:ext>
            </a:extLst>
          </p:cNvPr>
          <p:cNvPicPr>
            <a:picLocks noChangeAspect="1"/>
          </p:cNvPicPr>
          <p:nvPr/>
        </p:nvPicPr>
        <p:blipFill>
          <a:blip r:embed="rId2"/>
          <a:stretch>
            <a:fillRect/>
          </a:stretch>
        </p:blipFill>
        <p:spPr>
          <a:xfrm>
            <a:off x="2072081" y="332849"/>
            <a:ext cx="9473967" cy="4266910"/>
          </a:xfrm>
          <a:prstGeom prst="rect">
            <a:avLst/>
          </a:prstGeom>
        </p:spPr>
      </p:pic>
    </p:spTree>
    <p:extLst>
      <p:ext uri="{BB962C8B-B14F-4D97-AF65-F5344CB8AC3E}">
        <p14:creationId xmlns:p14="http://schemas.microsoft.com/office/powerpoint/2010/main" val="9703458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52</TotalTime>
  <Words>2239</Words>
  <Application>Microsoft Office PowerPoint</Application>
  <PresentationFormat>Widescreen</PresentationFormat>
  <Paragraphs>123</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Corbel</vt:lpstr>
      <vt:lpstr>Parallax</vt:lpstr>
      <vt:lpstr>Employee Attrition Analysis Report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 Abdullah Azam</dc:creator>
  <cp:lastModifiedBy>Shaik Abdullah Azam</cp:lastModifiedBy>
  <cp:revision>1</cp:revision>
  <dcterms:created xsi:type="dcterms:W3CDTF">2025-11-26T12:21:13Z</dcterms:created>
  <dcterms:modified xsi:type="dcterms:W3CDTF">2025-11-26T13:13:43Z</dcterms:modified>
</cp:coreProperties>
</file>